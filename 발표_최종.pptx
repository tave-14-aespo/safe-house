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retendard Medium"/>
      <p:bold r:id="rId39"/>
    </p:embeddedFont>
    <p:embeddedFont>
      <p:font typeface="Pretendard Bold"/>
      <p:bold r:id="rId40"/>
    </p:embeddedFont>
    <p:embeddedFont>
      <p:font typeface="Pretendard Regular"/>
      <p:regular r:id="rId41"/>
    </p:embeddedFont>
    <p:embeddedFont>
      <p:font typeface="Pretendard SemiBold"/>
      <p:bold r:id="rId42"/>
    </p:embeddedFont>
    <p:embeddedFont>
      <p:font typeface="Pretendard ExtraBold"/>
      <p:bold r:id="rId43"/>
    </p:embeddedFont>
    <p:embeddedFont>
      <p:font typeface="Pretendard Light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1.fntdata" Type="http://schemas.openxmlformats.org/officeDocument/2006/relationships/font"/><Relationship Id="rId4" Target="theme/theme1.xml" Type="http://schemas.openxmlformats.org/officeDocument/2006/relationships/theme"/><Relationship Id="rId40" Target="fonts/font2.fntdata" Type="http://schemas.openxmlformats.org/officeDocument/2006/relationships/font"/><Relationship Id="rId41" Target="fonts/font3.fntdata" Type="http://schemas.openxmlformats.org/officeDocument/2006/relationships/font"/><Relationship Id="rId42" Target="fonts/font4.fntdata" Type="http://schemas.openxmlformats.org/officeDocument/2006/relationships/font"/><Relationship Id="rId43" Target="fonts/font5.fntdata" Type="http://schemas.openxmlformats.org/officeDocument/2006/relationships/font"/><Relationship Id="rId44" Target="fonts/font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44.png" Type="http://schemas.openxmlformats.org/officeDocument/2006/relationships/image"/><Relationship Id="rId12" Target="../media/image70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72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46.png" Type="http://schemas.openxmlformats.org/officeDocument/2006/relationships/image"/><Relationship Id="rId12" Target="../media/image7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44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86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100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6.png" Type="http://schemas.openxmlformats.org/officeDocument/2006/relationships/image"/><Relationship Id="rId12" Target="../media/image102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46.png" Type="http://schemas.openxmlformats.org/officeDocument/2006/relationships/image"/><Relationship Id="rId12" Target="../media/image44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2" Target="../media/image14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87500" y="774700"/>
            <a:ext cx="16027400" cy="8724900"/>
          </a:xfrm>
          <a:prstGeom prst="rect">
            <a:avLst/>
          </a:prstGeom>
          <a:effectLst>
            <a:outerShdw dir="2700000" dist="805872" blurRad="2087442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14800" y="1435100"/>
            <a:ext cx="3937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25900" y="2463800"/>
            <a:ext cx="5842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2146300"/>
            <a:ext cx="6858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3100" y="520700"/>
            <a:ext cx="15786100" cy="9220200"/>
          </a:xfrm>
          <a:prstGeom prst="rect">
            <a:avLst/>
          </a:prstGeom>
          <a:effectLst>
            <a:outerShdw dir="2700000" dist="851182" blurRad="2328773">
              <a:srgbClr val="000000">
                <a:alpha val="18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2171700" y="7200900"/>
            <a:ext cx="128143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22500" y="7569200"/>
            <a:ext cx="19558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3352800"/>
            <a:ext cx="6858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4546600"/>
            <a:ext cx="6858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6769100"/>
            <a:ext cx="6858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7962900"/>
            <a:ext cx="6858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5740400"/>
            <a:ext cx="6858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27500" y="3771900"/>
            <a:ext cx="368300" cy="368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764000" y="4902200"/>
            <a:ext cx="495300" cy="495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14800" y="6108700"/>
            <a:ext cx="393700" cy="317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27500" y="7188200"/>
            <a:ext cx="381000" cy="381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40200" y="8432800"/>
            <a:ext cx="342900" cy="3556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171700" y="5499100"/>
            <a:ext cx="7835900" cy="520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3710"/>
              </a:lnSpc>
            </a:pP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Aespo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이나윤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정다운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김영민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황정현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3600" y="2451100"/>
            <a:ext cx="12128500" cy="267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8600" b="false" i="false" u="none" strike="noStrike" spc="1000">
                <a:solidFill>
                  <a:srgbClr val="000000"/>
                </a:solidFill>
                <a:ea typeface="Pretendard Bold"/>
              </a:rPr>
              <a:t>안전한</a:t>
            </a:r>
            <a:r>
              <a:rPr lang="en-US" sz="8600" b="false" i="false" u="none" strike="noStrike" spc="10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8600" b="false" i="false" u="none" strike="noStrike" spc="1000">
                <a:solidFill>
                  <a:srgbClr val="000000"/>
                </a:solidFill>
                <a:ea typeface="Pretendard Bold"/>
              </a:rPr>
              <a:t>자취방</a:t>
            </a:r>
            <a:r>
              <a:rPr lang="en-US" sz="8600" b="false" i="false" u="none" strike="noStrike" spc="100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8600" b="false" i="false" u="none" strike="noStrike" spc="1000">
                <a:solidFill>
                  <a:srgbClr val="000000"/>
                </a:solidFill>
                <a:ea typeface="Pretendard Bold"/>
              </a:rPr>
              <a:t>구하기</a:t>
            </a:r>
          </a:p>
          <a:p>
            <a:pPr algn="l" lvl="0">
              <a:lnSpc>
                <a:spcPct val="124499"/>
              </a:lnSpc>
            </a:pPr>
            <a:r>
              <a:rPr lang="ko-KR" sz="6000" b="false" i="false" u="none" strike="noStrike" spc="700">
                <a:solidFill>
                  <a:srgbClr val="366DC8"/>
                </a:solidFill>
                <a:ea typeface="Pretendard Bold"/>
              </a:rPr>
              <a:t>서울특별시</a:t>
            </a:r>
            <a:r>
              <a:rPr lang="en-US" sz="6000" b="false" i="false" u="none" strike="noStrike" spc="700">
                <a:solidFill>
                  <a:srgbClr val="366DC8"/>
                </a:solidFill>
                <a:latin typeface="Pretendard Bold"/>
              </a:rPr>
              <a:t> </a:t>
            </a:r>
            <a:r>
              <a:rPr lang="ko-KR" sz="6000" b="false" i="false" u="none" strike="noStrike" spc="700">
                <a:solidFill>
                  <a:srgbClr val="366DC8"/>
                </a:solidFill>
                <a:ea typeface="Pretendard Bold"/>
              </a:rPr>
              <a:t>오피스텔</a:t>
            </a:r>
            <a:r>
              <a:rPr lang="en-US" sz="6000" b="false" i="false" u="none" strike="noStrike" spc="700">
                <a:solidFill>
                  <a:srgbClr val="366DC8"/>
                </a:solidFill>
                <a:latin typeface="Pretendard Bold"/>
              </a:rPr>
              <a:t> </a:t>
            </a:r>
            <a:r>
              <a:rPr lang="ko-KR" sz="6000" b="false" i="false" u="none" strike="noStrike" spc="700">
                <a:solidFill>
                  <a:srgbClr val="366DC8"/>
                </a:solidFill>
                <a:ea typeface="Pretendard Bold"/>
              </a:rPr>
              <a:t>중심으로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74900" y="7670800"/>
            <a:ext cx="16383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600" b="false" i="false" u="none" strike="noStrike" spc="100">
                <a:solidFill>
                  <a:srgbClr val="FCFCFC"/>
                </a:solidFill>
                <a:latin typeface="Pretendard Regular"/>
              </a:rPr>
              <a:t>team member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71700" y="1739900"/>
            <a:ext cx="368300" cy="25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616200" y="1625600"/>
            <a:ext cx="38354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TAVE_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심화</a:t>
            </a: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프로젝트</a:t>
            </a: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 3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33900" y="7645400"/>
            <a:ext cx="102489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700" b="false" i="false" u="none" strike="noStrike" spc="-100">
                <a:solidFill>
                  <a:srgbClr val="858585"/>
                </a:solidFill>
                <a:latin typeface="Pretendard Regular"/>
              </a:rPr>
              <a:t>nayun_lee.61       </a:t>
            </a:r>
            <a:r>
              <a:rPr lang="ko-KR" sz="1700" b="false" i="false" u="none" strike="noStrike" spc="-100">
                <a:solidFill>
                  <a:srgbClr val="858585"/>
                </a:solidFill>
                <a:ea typeface="Pretendard Regular"/>
              </a:rPr>
              <a:t>ㅣ</a:t>
            </a:r>
            <a:r>
              <a:rPr lang="en-US" sz="1700" b="false" i="false" u="none" strike="noStrike" spc="-100">
                <a:solidFill>
                  <a:srgbClr val="858585"/>
                </a:solidFill>
                <a:latin typeface="Pretendard Regular"/>
              </a:rPr>
              <a:t>        daun_jeong.920     </a:t>
            </a:r>
            <a:r>
              <a:rPr lang="ko-KR" sz="1700" b="false" i="false" u="none" strike="noStrike" spc="-100">
                <a:solidFill>
                  <a:srgbClr val="858585"/>
                </a:solidFill>
                <a:ea typeface="Pretendard Regular"/>
              </a:rPr>
              <a:t>ㅣ</a:t>
            </a:r>
            <a:r>
              <a:rPr lang="en-US" sz="1700" b="false" i="false" u="none" strike="noStrike" spc="-100">
                <a:solidFill>
                  <a:srgbClr val="858585"/>
                </a:solidFill>
                <a:latin typeface="Pretendard Regular"/>
              </a:rPr>
              <a:t>       youngmin_kim.229     </a:t>
            </a:r>
            <a:r>
              <a:rPr lang="ko-KR" sz="1700" b="false" i="false" u="none" strike="noStrike" spc="-100">
                <a:solidFill>
                  <a:srgbClr val="858585"/>
                </a:solidFill>
                <a:ea typeface="Pretendard Regular"/>
              </a:rPr>
              <a:t>ㅣ</a:t>
            </a:r>
            <a:r>
              <a:rPr lang="en-US" sz="1700" b="false" i="false" u="none" strike="noStrike" spc="-100">
                <a:solidFill>
                  <a:srgbClr val="858585"/>
                </a:solidFill>
                <a:latin typeface="Pretendard Regular"/>
              </a:rPr>
              <a:t>     jeonghyun_hwang.825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8910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0900" y="1727200"/>
            <a:ext cx="3873500" cy="152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83000"/>
              </a:lnSpc>
            </a:pPr>
            <a:r>
              <a:rPr lang="en-US" sz="8600" b="false" i="false" u="none" strike="noStrike">
                <a:solidFill>
                  <a:srgbClr val="000000"/>
                </a:solidFill>
                <a:latin typeface="Pretendard Bold"/>
              </a:rPr>
              <a:t>INDEX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366500" y="6248400"/>
            <a:ext cx="40005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556000" y="6248400"/>
            <a:ext cx="4000500" cy="38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05000" y="4406900"/>
            <a:ext cx="4064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800" b="false" i="false" u="none" strike="noStrike">
                <a:solidFill>
                  <a:srgbClr val="4081ED"/>
                </a:solidFill>
                <a:latin typeface="Pretendard Extra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3400" y="5626100"/>
            <a:ext cx="2286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소개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8500" y="6388100"/>
            <a:ext cx="33274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팀원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소개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프로젝트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주제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배경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목표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429500" y="6248400"/>
            <a:ext cx="4000500" cy="38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070600" y="4406900"/>
            <a:ext cx="4064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800" b="false" i="false" u="none" strike="noStrike">
                <a:solidFill>
                  <a:srgbClr val="4081ED"/>
                </a:solidFill>
                <a:latin typeface="Pretendard Extra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81700" y="5626100"/>
            <a:ext cx="2603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동별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클러스터링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6800" y="6388100"/>
            <a:ext cx="33274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변수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소개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전처리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4100" y="4330700"/>
            <a:ext cx="5207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800" b="false" i="false" u="none" strike="noStrike">
                <a:solidFill>
                  <a:srgbClr val="4081ED"/>
                </a:solidFill>
                <a:latin typeface="Pretendard Extra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06000" y="5626100"/>
            <a:ext cx="2984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매물별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안전도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점수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71100" y="6388100"/>
            <a:ext cx="33274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변수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소개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전처리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분석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과정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93800" y="4368800"/>
            <a:ext cx="5207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5800" b="false" i="false" u="none" strike="noStrike">
                <a:solidFill>
                  <a:srgbClr val="4081ED"/>
                </a:solidFill>
                <a:latin typeface="Pretendard Extra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70000" y="5549900"/>
            <a:ext cx="1612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분석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Bold"/>
              </a:rPr>
              <a:t>결과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20800" y="6426200"/>
            <a:ext cx="2476500" cy="101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결과물</a:t>
            </a:r>
          </a:p>
          <a:p>
            <a:pPr algn="l" lvl="0" indent="-342900" marL="342900">
              <a:lnSpc>
                <a:spcPct val="149400"/>
              </a:lnSpc>
              <a:buAutoNum type="arabicPeriod" startAt="1"/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의의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한계점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096000" y="23114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70300" y="1828800"/>
            <a:ext cx="25654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팀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소개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6000" y="7772400"/>
            <a:ext cx="2578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이나윤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46100" y="3644900"/>
            <a:ext cx="3644900" cy="3644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71600" y="7620000"/>
            <a:ext cx="19939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220200" y="3568700"/>
            <a:ext cx="3644900" cy="3644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45700" y="7543800"/>
            <a:ext cx="1993900" cy="723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3568700"/>
            <a:ext cx="3644900" cy="364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7543800"/>
            <a:ext cx="1993900" cy="723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0800" y="3860800"/>
            <a:ext cx="3314700" cy="3314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676400" y="7645400"/>
            <a:ext cx="2578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200" b="true" i="false" u="none" strike="noStrike">
                <a:solidFill>
                  <a:srgbClr val="FFFFFF"/>
                </a:solidFill>
                <a:ea typeface="Pretendard Medium"/>
              </a:rPr>
              <a:t>이나윤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156200" y="3644900"/>
            <a:ext cx="3644900" cy="3644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981700" y="7620000"/>
            <a:ext cx="1993900" cy="7239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5702300" y="7721600"/>
            <a:ext cx="2578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200" b="true" i="false" u="none" strike="noStrike">
                <a:solidFill>
                  <a:srgbClr val="FFFFFF"/>
                </a:solidFill>
                <a:ea typeface="Pretendard Medium"/>
              </a:rPr>
              <a:t>정다운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53600" y="7645400"/>
            <a:ext cx="2578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200" b="true" i="false" u="none" strike="noStrike">
                <a:solidFill>
                  <a:srgbClr val="FFFFFF"/>
                </a:solidFill>
                <a:ea typeface="Pretendard Medium"/>
              </a:rPr>
              <a:t>김영민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79500" y="7721600"/>
            <a:ext cx="2578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200" b="true" i="false" u="none" strike="noStrike">
                <a:solidFill>
                  <a:srgbClr val="FFFFFF"/>
                </a:solidFill>
                <a:ea typeface="Pretendard Medium"/>
              </a:rPr>
              <a:t>황정현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13300" y="3314700"/>
            <a:ext cx="4330700" cy="4330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0" y="3365500"/>
            <a:ext cx="3860800" cy="3860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32400" y="3340100"/>
            <a:ext cx="3911600" cy="3911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851900" y="3238500"/>
            <a:ext cx="45847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35814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1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677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2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3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144000" y="24892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구학기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0300" y="1828800"/>
            <a:ext cx="56261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주제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소개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배경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alphaModFix amt="28000"/>
          </a:blip>
          <a:stretch>
            <a:fillRect/>
          </a:stretch>
        </p:blipFill>
        <p:spPr>
          <a:xfrm rot="0">
            <a:off x="5207000" y="7708900"/>
            <a:ext cx="7861300" cy="1790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197600" y="8293100"/>
            <a:ext cx="10287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3700" b="false" i="false" u="none" strike="noStrike">
                <a:solidFill>
                  <a:srgbClr val="000000"/>
                </a:solidFill>
                <a:ea typeface="Pretendard SemiBold"/>
              </a:rPr>
              <a:t>주제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18500" y="8242300"/>
            <a:ext cx="40640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 </a:t>
            </a:r>
            <a:r>
              <a:rPr lang="ko-KR" sz="37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안전한</a:t>
            </a:r>
            <a:r>
              <a:rPr lang="en-US" sz="37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37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자취방</a:t>
            </a:r>
            <a:r>
              <a:rPr lang="en-US" sz="37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37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구하기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alphaModFix amt="29000"/>
          </a:blip>
          <a:stretch>
            <a:fillRect/>
          </a:stretch>
        </p:blipFill>
        <p:spPr>
          <a:xfrm rot="5400000">
            <a:off x="7429500" y="8636000"/>
            <a:ext cx="1104900" cy="12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35800" y="3670300"/>
            <a:ext cx="4229100" cy="37084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35814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1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540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3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66300" y="3276600"/>
            <a:ext cx="1714500" cy="171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67300" y="5384800"/>
            <a:ext cx="1714500" cy="171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06000" y="7620000"/>
            <a:ext cx="1714500" cy="171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34500" y="3568700"/>
            <a:ext cx="1346200" cy="10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121400" y="5956300"/>
            <a:ext cx="1346200" cy="10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32900" y="8026400"/>
            <a:ext cx="1346200" cy="101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906000" y="7924800"/>
            <a:ext cx="1714500" cy="11176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498600" y="3429000"/>
            <a:ext cx="76962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구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단위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안전도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지표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한계</a:t>
            </a:r>
          </a:p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서울시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안전도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지표는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구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단위로만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제공되어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, </a:t>
            </a:r>
          </a:p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세부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주소별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안전성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파악이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어려움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81900" y="5778500"/>
            <a:ext cx="94107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자취방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선택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정보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부족</a:t>
            </a:r>
          </a:p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자취방을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선택할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때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안전도를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객관적으로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확인할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있는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정보가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부족함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0800" y="7861300"/>
            <a:ext cx="76962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동별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제공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필요</a:t>
            </a:r>
          </a:p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기반으로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동별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안전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점수를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제공하여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 </a:t>
            </a:r>
          </a:p>
          <a:p>
            <a:pPr algn="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자취방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선택에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실질적인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도움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Light"/>
              </a:rPr>
              <a:t>필요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2200" y="3683000"/>
            <a:ext cx="13462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FFFFFF"/>
                </a:solidFill>
                <a:latin typeface="Pretendard Bold"/>
              </a:rPr>
              <a:t>High </a:t>
            </a:r>
          </a:p>
          <a:p>
            <a:pPr algn="ctr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FFFFFF"/>
                </a:solidFill>
                <a:latin typeface="Pretendard Bold"/>
              </a:rPr>
              <a:t>Level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70500" y="5981700"/>
            <a:ext cx="1308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FFFFFF"/>
                </a:solidFill>
                <a:latin typeface="Pretendard Bold"/>
              </a:rPr>
              <a:t>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5000" y="8255000"/>
            <a:ext cx="2489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FFFFFF"/>
                </a:solidFill>
                <a:latin typeface="Pretendard Bold"/>
              </a:rPr>
              <a:t>Safety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70300" y="1828800"/>
            <a:ext cx="56261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주제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소개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배경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24892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35814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1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677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2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0" y="3810000"/>
            <a:ext cx="17526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en-US" sz="2500" b="false" i="false" u="none" strike="noStrike" spc="-100">
                <a:solidFill>
                  <a:srgbClr val="FCFCFC"/>
                </a:solidFill>
                <a:latin typeface="Pretendard Medium"/>
              </a:rPr>
              <a:t>3</a:t>
            </a:r>
            <a:r>
              <a:rPr lang="ko-KR" sz="2500" b="false" i="false" u="none" strike="noStrike" spc="-100">
                <a:solidFill>
                  <a:srgbClr val="FCFCFC"/>
                </a:solidFill>
                <a:ea typeface="Pretendard Medium"/>
              </a:rPr>
              <a:t>일차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670300" y="1841500"/>
            <a:ext cx="615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목표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93100" y="3860800"/>
            <a:ext cx="8242300" cy="1447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19300" y="3517900"/>
            <a:ext cx="5803900" cy="5473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051300" y="5219700"/>
            <a:ext cx="1739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2500" b="false" i="false" u="none" strike="noStrike" spc="100">
                <a:solidFill>
                  <a:srgbClr val="FCFCFC"/>
                </a:solidFill>
                <a:ea typeface="Pretendard Medium"/>
              </a:rPr>
              <a:t>시각화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79700" y="7785100"/>
            <a:ext cx="1739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2500" b="false" i="false" u="none" strike="noStrike" spc="100">
                <a:solidFill>
                  <a:srgbClr val="FCFCFC"/>
                </a:solidFill>
                <a:ea typeface="Pretendard Medium"/>
              </a:rPr>
              <a:t>법정동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4800" y="7785100"/>
            <a:ext cx="1739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2500" b="false" i="false" u="none" strike="noStrike" spc="100">
                <a:solidFill>
                  <a:srgbClr val="FCFCFC"/>
                </a:solidFill>
                <a:ea typeface="Pretendard Medium"/>
              </a:rPr>
              <a:t>안전</a:t>
            </a:r>
            <a:r>
              <a:rPr lang="en-US" sz="2500" b="false" i="false" u="none" strike="noStrike" spc="100">
                <a:solidFill>
                  <a:srgbClr val="FCFCFC"/>
                </a:solidFill>
                <a:latin typeface="Pretendard Medium"/>
              </a:rPr>
              <a:t> </a:t>
            </a:r>
            <a:r>
              <a:rPr lang="ko-KR" sz="2500" b="false" i="false" u="none" strike="noStrike" spc="100">
                <a:solidFill>
                  <a:srgbClr val="FCFCFC"/>
                </a:solidFill>
                <a:ea typeface="Pretendard Medium"/>
              </a:rPr>
              <a:t>점수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75700" y="4394200"/>
            <a:ext cx="15367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06240"/>
              </a:lnSpc>
              <a:buClr>
                <a:srgbClr val="363C50"/>
              </a:buClr>
              <a:buFont typeface="Arial"/>
              <a:buChar char="●"/>
            </a:pPr>
            <a:r>
              <a:rPr lang="ko-KR" sz="2100" b="true" i="false" u="none" strike="noStrike">
                <a:solidFill>
                  <a:srgbClr val="363C50"/>
                </a:solidFill>
                <a:ea typeface="Pretendard Medium"/>
              </a:rPr>
              <a:t>법정동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34700" y="4419600"/>
            <a:ext cx="54102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서울시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법정동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단위로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안전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여부를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0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과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1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판별하고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시각화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93100" y="5499100"/>
            <a:ext cx="8242300" cy="14478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8775700" y="6032500"/>
            <a:ext cx="1905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06240"/>
              </a:lnSpc>
              <a:buClr>
                <a:srgbClr val="343434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43434"/>
                </a:solidFill>
                <a:ea typeface="Pretendard Medium"/>
              </a:rPr>
              <a:t>시각화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34700" y="5892800"/>
            <a:ext cx="5384800" cy="67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실제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주소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기반으로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안전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점수를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지도에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시각화하여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직관적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정보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제공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93100" y="7162800"/>
            <a:ext cx="8242300" cy="144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238500" y="6908800"/>
            <a:ext cx="685800" cy="609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97400" y="4394200"/>
            <a:ext cx="647700" cy="647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007100" y="6819900"/>
            <a:ext cx="482600" cy="787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4">
            <a:alphaModFix amt="29000"/>
          </a:blip>
          <a:stretch>
            <a:fillRect/>
          </a:stretch>
        </p:blipFill>
        <p:spPr>
          <a:xfrm rot="5400000">
            <a:off x="10083800" y="4584700"/>
            <a:ext cx="8890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4">
            <a:alphaModFix amt="29000"/>
          </a:blip>
          <a:stretch>
            <a:fillRect/>
          </a:stretch>
        </p:blipFill>
        <p:spPr>
          <a:xfrm rot="5400000">
            <a:off x="10083800" y="6210300"/>
            <a:ext cx="8890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alphaModFix amt="29000"/>
          </a:blip>
          <a:stretch>
            <a:fillRect/>
          </a:stretch>
        </p:blipFill>
        <p:spPr>
          <a:xfrm rot="5400000">
            <a:off x="10083800" y="7874000"/>
            <a:ext cx="889000" cy="127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8775700" y="7696200"/>
            <a:ext cx="17272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06240"/>
              </a:lnSpc>
              <a:buClr>
                <a:srgbClr val="4081ED"/>
              </a:buClr>
              <a:buFont typeface="Arial"/>
              <a:buChar char="●"/>
            </a:pPr>
            <a:r>
              <a:rPr lang="ko-KR" sz="2100" b="true" i="false" u="none" strike="noStrike">
                <a:solidFill>
                  <a:srgbClr val="4081ED"/>
                </a:solidFill>
                <a:ea typeface="Pretendard Medium"/>
              </a:rPr>
              <a:t>안전점수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34700" y="7721600"/>
            <a:ext cx="53848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실제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오피스텔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매물에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대해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안전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점수</a:t>
            </a:r>
            <a:r>
              <a:rPr lang="en-US" sz="19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평가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93100" y="24892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36900" y="4318000"/>
            <a:ext cx="5422900" cy="495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05900" y="6007100"/>
            <a:ext cx="15367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9000" y="3378200"/>
            <a:ext cx="582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법정동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기준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등록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0" y="6286500"/>
            <a:ext cx="3441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법정동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기준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등록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인구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69300" y="5753100"/>
            <a:ext cx="1536700" cy="1041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9000" y="3378200"/>
            <a:ext cx="5410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5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범죄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발생현황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통계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88600" y="5854700"/>
            <a:ext cx="6870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구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단위로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제공되어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동일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구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내의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법정동들은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동일한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값으로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처리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6700" y="5994400"/>
            <a:ext cx="6451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구별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살인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강도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강간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강제추행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절도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폭력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69300" y="6032500"/>
            <a:ext cx="15367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90200" y="5765800"/>
            <a:ext cx="6172200" cy="1587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52600" y="5359400"/>
            <a:ext cx="6172200" cy="2133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74000" y="7366000"/>
            <a:ext cx="2540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역지오코딩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49800" y="3378200"/>
            <a:ext cx="12192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지하철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경찰서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파출소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지구대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치안센터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69300" y="6032500"/>
            <a:ext cx="15367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350500" y="4521200"/>
            <a:ext cx="4826000" cy="3924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46300" y="5702300"/>
            <a:ext cx="5803900" cy="1689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88300" y="7366000"/>
            <a:ext cx="2540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동별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합계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49800" y="3378200"/>
            <a:ext cx="12192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지하철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,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경찰서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파출소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지구대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/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치안센터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6700" y="5118100"/>
            <a:ext cx="8191500" cy="1447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44100" y="3441700"/>
            <a:ext cx="6172200" cy="431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65300" y="8153400"/>
            <a:ext cx="14592300" cy="990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41600" y="8407400"/>
            <a:ext cx="129159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수집한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데이터를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합치고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인구나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시설이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없는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경우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0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으로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처리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전처리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105400" y="4432300"/>
            <a:ext cx="7988300" cy="2857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41500" y="8470900"/>
            <a:ext cx="14592300" cy="990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97400" y="8712200"/>
            <a:ext cx="9093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수집한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전체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데이터에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스케일링을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적용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전처리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11700" y="3378200"/>
            <a:ext cx="2197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</a:rPr>
              <a:t>K-Means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28000"/>
          </a:blip>
          <a:stretch>
            <a:fillRect/>
          </a:stretch>
        </p:blipFill>
        <p:spPr>
          <a:xfrm rot="0">
            <a:off x="2971800" y="4178300"/>
            <a:ext cx="12890500" cy="1371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886200" y="4597400"/>
            <a:ext cx="9398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SemiBold"/>
              </a:rPr>
              <a:t>목표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56300" y="4622800"/>
            <a:ext cx="7569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주어진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데이터를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기반으로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위험한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동과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안전한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동을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구분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alphaModFix amt="29000"/>
          </a:blip>
          <a:stretch>
            <a:fillRect/>
          </a:stretch>
        </p:blipFill>
        <p:spPr>
          <a:xfrm rot="5400000">
            <a:off x="5029200" y="4876800"/>
            <a:ext cx="9017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alphaModFix amt="28000"/>
          </a:blip>
          <a:stretch>
            <a:fillRect/>
          </a:stretch>
        </p:blipFill>
        <p:spPr>
          <a:xfrm rot="0">
            <a:off x="2946400" y="5765800"/>
            <a:ext cx="12890500" cy="1371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3378200" y="5943600"/>
            <a:ext cx="1854200" cy="101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SemiBold"/>
              </a:rPr>
              <a:t>알고리즘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algn="ctr" lvl="0">
              <a:lnSpc>
                <a:spcPct val="10624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SemiBold"/>
              </a:rPr>
              <a:t>선택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30900" y="6210300"/>
            <a:ext cx="7569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타겟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데이터가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없으므로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비지도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학습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알고리즘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사용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alphaModFix amt="29000"/>
          </a:blip>
          <a:stretch>
            <a:fillRect/>
          </a:stretch>
        </p:blipFill>
        <p:spPr>
          <a:xfrm rot="5400000">
            <a:off x="5067300" y="6464300"/>
            <a:ext cx="9017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alphaModFix amt="28000"/>
          </a:blip>
          <a:stretch>
            <a:fillRect/>
          </a:stretch>
        </p:blipFill>
        <p:spPr>
          <a:xfrm rot="0">
            <a:off x="2971800" y="7404100"/>
            <a:ext cx="12890500" cy="20447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3657600" y="7848600"/>
            <a:ext cx="1409700" cy="101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624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SemiBold"/>
              </a:rPr>
              <a:t>사용한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SemiBold"/>
              </a:rPr>
              <a:t>기법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05500" y="7632700"/>
            <a:ext cx="9436100" cy="156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 K-means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는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데이터를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K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개의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군집으로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묶는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알고리즘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군집화는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비슷한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특성을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가진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데이터들을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그룹화하는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과정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안전한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동과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위험한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동을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비슷한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특성으로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묶기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위해</a:t>
            </a:r>
            <a:r>
              <a:rPr lang="en-US" sz="2800" b="false" i="false" u="none" strike="noStrike" spc="-200">
                <a:solidFill>
                  <a:srgbClr val="000000">
                    <a:alpha val="65098"/>
                  </a:srgbClr>
                </a:solidFill>
                <a:latin typeface="Pretendard Regular"/>
              </a:rPr>
              <a:t> K-means </a:t>
            </a:r>
            <a:r>
              <a:rPr lang="ko-KR" sz="2800" b="false" i="false" u="none" strike="noStrike" spc="-200">
                <a:solidFill>
                  <a:srgbClr val="000000">
                    <a:alpha val="65098"/>
                  </a:srgbClr>
                </a:solidFill>
                <a:ea typeface="Pretendard Regular"/>
              </a:rPr>
              <a:t>사용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alphaModFix amt="29000"/>
          </a:blip>
          <a:stretch>
            <a:fillRect/>
          </a:stretch>
        </p:blipFill>
        <p:spPr>
          <a:xfrm rot="5400000">
            <a:off x="4787900" y="8420100"/>
            <a:ext cx="1422400" cy="25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6700" y="4673600"/>
            <a:ext cx="6896100" cy="342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0" y="3924300"/>
            <a:ext cx="6616700" cy="4927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 rot="0">
            <a:off x="10731500" y="5359400"/>
            <a:ext cx="901700" cy="901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6700" y="4851400"/>
            <a:ext cx="6896100" cy="322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91700" y="3835400"/>
            <a:ext cx="6477000" cy="481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 rot="0">
            <a:off x="10248900" y="3746500"/>
            <a:ext cx="850900" cy="850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384800" y="4470400"/>
            <a:ext cx="7518400" cy="2895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41500" y="7708900"/>
            <a:ext cx="14592300" cy="990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78500" y="7962900"/>
            <a:ext cx="6731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해석을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위해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입력변수에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pca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를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적용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21900" y="3289300"/>
            <a:ext cx="6388100" cy="453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41500" y="8013700"/>
            <a:ext cx="14592300" cy="1447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40300" y="8255000"/>
            <a:ext cx="90678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로딩값을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기반으로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클러스터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분류</a:t>
            </a:r>
          </a:p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클러스터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1: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상대적으로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위험한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지역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클러스터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0: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안전한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지역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41500" y="4787900"/>
            <a:ext cx="7620000" cy="2184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동별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클러스터링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31200" y="3543300"/>
            <a:ext cx="8572500" cy="5448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1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6700" y="5143500"/>
            <a:ext cx="6172200" cy="1981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매물별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안전도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점수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66900" y="5143500"/>
            <a:ext cx="6172200" cy="2336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9800" y="3378200"/>
            <a:ext cx="7823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국토교통부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_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실거래가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(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서울특별시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오피스텔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369300" y="5816600"/>
            <a:ext cx="1536700" cy="1041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350500" y="5359400"/>
            <a:ext cx="6985000" cy="1968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988300" y="7150100"/>
            <a:ext cx="2540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지오코딩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매물별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안전도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점수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308600" y="3962400"/>
            <a:ext cx="5892800" cy="572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86200" y="6121400"/>
            <a:ext cx="1130300" cy="1041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13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60300" y="5384800"/>
            <a:ext cx="4711700" cy="2273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341100" y="6121400"/>
            <a:ext cx="1092200" cy="1041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데이터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구축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5000" y="5778500"/>
            <a:ext cx="3606800" cy="175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cctv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학교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위치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버스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정류장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가로등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데이터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49800" y="3378200"/>
            <a:ext cx="534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반경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500m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안의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요소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계산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매물별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안전도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점수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569200" y="5549900"/>
            <a:ext cx="9258300" cy="148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531100" y="7277100"/>
            <a:ext cx="9296400" cy="1536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569200" y="4102100"/>
            <a:ext cx="9372600" cy="1041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43100" y="5994400"/>
            <a:ext cx="5105400" cy="1612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전처리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2200" y="6324600"/>
            <a:ext cx="4216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가중치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적용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범위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조정</a:t>
            </a:r>
          </a:p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(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최소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50,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최대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100)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매물별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안전도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점수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54400" y="5143500"/>
            <a:ext cx="11366500" cy="1905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81300" y="8102600"/>
            <a:ext cx="12725400" cy="1257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과정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18300" y="8483600"/>
            <a:ext cx="4838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매물별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최종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안전도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도출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매물별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안전도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점수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13900" y="4356100"/>
            <a:ext cx="6172200" cy="4622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39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52600" y="5524500"/>
            <a:ext cx="6172200" cy="2286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분석</a:t>
            </a:r>
            <a:r>
              <a:rPr lang="en-US" sz="3300" b="false" i="false" u="none" strike="noStrike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49800" y="3378200"/>
            <a:ext cx="534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매물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이름과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89400" y="4381500"/>
            <a:ext cx="10109200" cy="4787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9800" y="3378200"/>
            <a:ext cx="534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동별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여부를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시각화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70300" y="4102100"/>
            <a:ext cx="11074400" cy="5435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9800" y="3378200"/>
            <a:ext cx="6172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서울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오피스텔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매물에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24400" y="3378200"/>
            <a:ext cx="4241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주소에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29000"/>
          </a:blip>
          <a:stretch>
            <a:fillRect/>
          </a:stretch>
        </p:blipFill>
        <p:spPr>
          <a:xfrm rot="0">
            <a:off x="5308600" y="6019800"/>
            <a:ext cx="7734300" cy="3733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23100" y="7632700"/>
            <a:ext cx="4279900" cy="2120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708900" y="8597900"/>
            <a:ext cx="30861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2960"/>
              </a:lnSpc>
            </a:pPr>
            <a:r>
              <a:rPr lang="ko-KR" sz="4000" b="false" i="false" u="none" strike="noStrike">
                <a:solidFill>
                  <a:srgbClr val="4081ED"/>
                </a:solidFill>
                <a:ea typeface="Pretendard SemiBold"/>
              </a:rPr>
              <a:t>분석</a:t>
            </a:r>
            <a:r>
              <a:rPr lang="en-US" sz="4000" b="false" i="false" u="none" strike="noStrike">
                <a:solidFill>
                  <a:srgbClr val="4081ED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4081ED"/>
                </a:solidFill>
                <a:ea typeface="Pretendard SemiBold"/>
              </a:rPr>
              <a:t>흐름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00600" y="5956300"/>
            <a:ext cx="2705100" cy="749300"/>
          </a:xfrm>
          <a:prstGeom prst="rect">
            <a:avLst/>
          </a:prstGeom>
          <a:effectLst>
            <a:outerShdw dir="5400000" dist="29049" blurRad="13493">
              <a:srgbClr val="000000">
                <a:alpha val="33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200900" y="6007100"/>
            <a:ext cx="622300" cy="622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264400" y="6108700"/>
            <a:ext cx="4826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en-US" sz="2100" b="false" i="false" u="none" strike="noStrike" spc="-100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80000" y="6032500"/>
            <a:ext cx="21590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좌표</a:t>
            </a:r>
            <a:r>
              <a:rPr lang="en-US" sz="29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변환</a:t>
            </a:r>
          </a:p>
        </p:txBody>
      </p: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023600" y="6019800"/>
            <a:ext cx="2705100" cy="749300"/>
          </a:xfrm>
          <a:prstGeom prst="rect">
            <a:avLst/>
          </a:prstGeom>
          <a:effectLst>
            <a:outerShdw dir="5400000" dist="29049" blurRad="13493">
              <a:srgbClr val="000000">
                <a:alpha val="33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693400" y="6032500"/>
            <a:ext cx="622300" cy="622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769600" y="6146800"/>
            <a:ext cx="4826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en-US" sz="2100" b="false" i="false" u="none" strike="noStrike" spc="-100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15700" y="6096000"/>
            <a:ext cx="22733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함수전달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01600" y="8216900"/>
            <a:ext cx="2705100" cy="749300"/>
          </a:xfrm>
          <a:prstGeom prst="rect">
            <a:avLst/>
          </a:prstGeom>
          <a:effectLst>
            <a:outerShdw dir="5400000" dist="29049" blurRad="13493">
              <a:srgbClr val="000000">
                <a:alpha val="33000"/>
              </a:srgbClr>
            </a:outerShdw>
          </a:effectLst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96800" y="8280400"/>
            <a:ext cx="622300" cy="622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560300" y="8382000"/>
            <a:ext cx="4826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en-US" sz="2100" b="false" i="false" u="none" strike="noStrike" spc="-100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81000" y="8305800"/>
            <a:ext cx="22733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결과출력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95600" y="8166100"/>
            <a:ext cx="2705100" cy="749300"/>
          </a:xfrm>
          <a:prstGeom prst="rect">
            <a:avLst/>
          </a:prstGeom>
          <a:effectLst>
            <a:outerShdw dir="5400000" dist="29049" blurRad="13493">
              <a:srgbClr val="000000">
                <a:alpha val="33000"/>
              </a:srgbClr>
            </a:outerShdw>
          </a:effectLst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334000" y="8216900"/>
            <a:ext cx="622300" cy="6223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5397500" y="8318500"/>
            <a:ext cx="4826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en-US" sz="2100" b="false" i="false" u="none" strike="noStrike" spc="-100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36900" y="8255000"/>
            <a:ext cx="22733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5287"/>
              </a:lnSpc>
            </a:pP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주소</a:t>
            </a:r>
            <a:r>
              <a:rPr lang="en-US" sz="2900" b="false" i="false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2900" b="false" i="false" u="none" strike="noStrike">
                <a:solidFill>
                  <a:srgbClr val="FFFFFF"/>
                </a:solidFill>
                <a:ea typeface="Pretendard SemiBold"/>
              </a:rPr>
              <a:t>입력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78100" y="5245100"/>
            <a:ext cx="48006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4460"/>
              </a:lnSpc>
            </a:pP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입력된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주소를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위도와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경도로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변환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34700" y="5308600"/>
            <a:ext cx="58801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4460"/>
              </a:lnSpc>
            </a:pP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변환된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위도와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경도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값을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함수에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인자로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전달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7800" y="7581900"/>
            <a:ext cx="34036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4460"/>
              </a:lnSpc>
            </a:pP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함수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실행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결과를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출력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97100" y="7594600"/>
            <a:ext cx="34036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4460"/>
              </a:lnSpc>
            </a:pP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사용자가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주소를</a:t>
            </a:r>
            <a:r>
              <a:rPr lang="en-US" sz="2200" b="false" i="false" u="none" strike="noStrike" spc="-100">
                <a:solidFill>
                  <a:srgbClr val="343434">
                    <a:alpha val="65098"/>
                  </a:srgbClr>
                </a:solidFill>
                <a:latin typeface="Pretendard Regular"/>
              </a:rPr>
              <a:t> </a:t>
            </a:r>
            <a:r>
              <a:rPr lang="ko-KR" sz="2200" b="false" i="false" u="none" strike="noStrike" spc="-100">
                <a:solidFill>
                  <a:srgbClr val="343434">
                    <a:alpha val="65098"/>
                  </a:srgbClr>
                </a:solidFill>
                <a:ea typeface="Pretendard Regular"/>
              </a:rPr>
              <a:t>입력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35200" y="4787900"/>
            <a:ext cx="5702300" cy="3657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56700" y="5003800"/>
            <a:ext cx="6921500" cy="3251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24400" y="3378200"/>
            <a:ext cx="4241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주소에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337800" y="3378200"/>
            <a:ext cx="6172200" cy="5905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65300" y="5638800"/>
            <a:ext cx="7886700" cy="2006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724400" y="3378200"/>
            <a:ext cx="4241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주소에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7600" y="5829300"/>
            <a:ext cx="6591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피클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파일을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읽어서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  <a:p>
            <a:pPr algn="ctr" lvl="0">
              <a:lnSpc>
                <a:spcPct val="1244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주변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요소가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반경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500m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안에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 </a:t>
            </a:r>
          </a:p>
          <a:p>
            <a:pPr algn="ctr" lvl="0">
              <a:lnSpc>
                <a:spcPct val="1244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몇개가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있는지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계산하는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함수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4521200"/>
            <a:ext cx="7747000" cy="3924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32300" y="3378200"/>
            <a:ext cx="4241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Flask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와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Flask-Ngrok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78000" y="4826000"/>
            <a:ext cx="6172200" cy="3302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66900" y="4203700"/>
            <a:ext cx="6172200" cy="5143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572500" y="5880100"/>
            <a:ext cx="1536700" cy="1041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16100" y="33655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9800" y="3378200"/>
            <a:ext cx="6172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주소에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0" y="4864100"/>
            <a:ext cx="6172200" cy="3124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28200" y="4864100"/>
            <a:ext cx="7467600" cy="397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5905500"/>
            <a:ext cx="5791200" cy="190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581900" y="6337300"/>
            <a:ext cx="1536700" cy="1041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5100" y="7797800"/>
            <a:ext cx="32512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주변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요소</a:t>
            </a:r>
          </a:p>
          <a:p>
            <a:pPr algn="ct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해당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동의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여부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9700" y="3289300"/>
            <a:ext cx="3086100" cy="673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05000" y="3365500"/>
            <a:ext cx="20320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결과물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49800" y="3378200"/>
            <a:ext cx="6172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실제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주소에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9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Pretendard Medium"/>
              </a:rPr>
              <a:t>점수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533400"/>
            <a:ext cx="16954500" cy="698500"/>
          </a:xfrm>
          <a:prstGeom prst="rect">
            <a:avLst/>
          </a:prstGeom>
          <a:effectLst>
            <a:outerShdw dir="2700000" dist="64729" blurRad="13467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1308100"/>
            <a:ext cx="16979900" cy="8445500"/>
          </a:xfrm>
          <a:prstGeom prst="rect">
            <a:avLst/>
          </a:prstGeom>
          <a:effectLst>
            <a:outerShdw dir="2700000" dist="779980" blurRad="1955464">
              <a:srgbClr val="000000">
                <a:alpha val="18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0">
            <a:off x="1384300" y="3086100"/>
            <a:ext cx="15519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670300" y="1841500"/>
            <a:ext cx="86995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296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분석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000" b="false" i="false" u="none" strike="noStrike" spc="-200">
                <a:solidFill>
                  <a:srgbClr val="000000"/>
                </a:solidFill>
                <a:ea typeface="Pretendard SemiBold"/>
              </a:rPr>
              <a:t>결과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5400000">
            <a:off x="2552700" y="2489200"/>
            <a:ext cx="11938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" y="1765300"/>
            <a:ext cx="14986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6240"/>
              </a:lnSpc>
            </a:pPr>
            <a:r>
              <a:rPr lang="en-US" sz="6600" b="false" i="false" u="none" strike="noStrike" spc="100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762000"/>
            <a:ext cx="241300" cy="21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938500" y="685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86200" y="736600"/>
            <a:ext cx="254000" cy="266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36700" y="749300"/>
            <a:ext cx="19304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안전한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자취방</a:t>
            </a:r>
            <a:r>
              <a:rPr lang="en-US" sz="1500" b="false" i="false" u="none" strike="noStrike" spc="100">
                <a:solidFill>
                  <a:srgbClr val="FCFCFC"/>
                </a:solidFill>
                <a:latin typeface="Pretendard SemiBold"/>
              </a:rPr>
              <a:t> </a:t>
            </a:r>
            <a:r>
              <a:rPr lang="ko-KR" sz="1500" b="false" i="false" u="none" strike="noStrike" spc="100">
                <a:solidFill>
                  <a:srgbClr val="FCFCFC"/>
                </a:solidFill>
                <a:ea typeface="Pretendard SemiBold"/>
              </a:rPr>
              <a:t>구하기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5300" y="2413000"/>
            <a:ext cx="2324100" cy="30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true" i="false" u="none" strike="noStrike" spc="100">
                <a:solidFill>
                  <a:srgbClr val="4081ED"/>
                </a:solidFill>
                <a:ea typeface="Pretendard Regular"/>
              </a:rPr>
              <a:t>ㅣ</a:t>
            </a:r>
            <a:r>
              <a:rPr lang="en-US" sz="1700" b="true" i="false" u="none" strike="noStrike" spc="100">
                <a:solidFill>
                  <a:srgbClr val="4081ED"/>
                </a:solidFill>
                <a:latin typeface="Pretendard Regular"/>
              </a:rPr>
              <a:t>   aespo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67100" y="3479800"/>
            <a:ext cx="3086100" cy="673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886200" y="3556000"/>
            <a:ext cx="22098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300" b="false" i="false" u="none" strike="noStrike">
                <a:solidFill>
                  <a:srgbClr val="FCFCFC"/>
                </a:solidFill>
                <a:ea typeface="Pretendard SemiBold"/>
              </a:rPr>
              <a:t>의의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286500" y="6286500"/>
            <a:ext cx="6007100" cy="279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66400" y="4648200"/>
            <a:ext cx="5918200" cy="4191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42700" y="3479800"/>
            <a:ext cx="3136900" cy="685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1874500" y="3556000"/>
            <a:ext cx="2247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FCFCFC"/>
                </a:solidFill>
                <a:ea typeface="Pretendard SemiBold"/>
              </a:rPr>
              <a:t>한계점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4648200"/>
            <a:ext cx="70104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87500" y="774700"/>
            <a:ext cx="16027400" cy="8724900"/>
          </a:xfrm>
          <a:prstGeom prst="rect">
            <a:avLst/>
          </a:prstGeom>
          <a:effectLst>
            <a:outerShdw dir="2700000" dist="805872" blurRad="2087442">
              <a:srgbClr val="000000">
                <a:alpha val="14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14800" y="1435100"/>
            <a:ext cx="393700" cy="419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25900" y="2463800"/>
            <a:ext cx="584200" cy="58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2146300"/>
            <a:ext cx="6858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3100" y="520700"/>
            <a:ext cx="15786100" cy="9220200"/>
          </a:xfrm>
          <a:prstGeom prst="rect">
            <a:avLst/>
          </a:prstGeom>
          <a:effectLst>
            <a:outerShdw dir="2700000" dist="851182" blurRad="2328773">
              <a:srgbClr val="000000">
                <a:alpha val="18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3352800"/>
            <a:ext cx="6858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4546600"/>
            <a:ext cx="6858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6769100"/>
            <a:ext cx="6858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7962900"/>
            <a:ext cx="6858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75100" y="5740400"/>
            <a:ext cx="6858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27500" y="3771900"/>
            <a:ext cx="368300" cy="36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64000" y="4902200"/>
            <a:ext cx="495300" cy="495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814800" y="6108700"/>
            <a:ext cx="393700" cy="317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827500" y="7188200"/>
            <a:ext cx="3810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40200" y="8432800"/>
            <a:ext cx="342900" cy="355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778500" y="7175500"/>
            <a:ext cx="56515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3710"/>
              </a:lnSpc>
            </a:pP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Aespo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이나윤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정다운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김영민</a:t>
            </a:r>
            <a:r>
              <a:rPr lang="en-US" sz="3000" b="true" i="false" u="none" strike="noStrike" spc="-100">
                <a:solidFill>
                  <a:srgbClr val="343434"/>
                </a:solidFill>
                <a:latin typeface="Pretendard Medium"/>
              </a:rPr>
              <a:t>, </a:t>
            </a:r>
            <a:r>
              <a:rPr lang="ko-KR" sz="3000" b="true" i="false" u="none" strike="noStrike" spc="-100">
                <a:solidFill>
                  <a:srgbClr val="343434"/>
                </a:solidFill>
                <a:ea typeface="Pretendard Medium"/>
              </a:rPr>
              <a:t>황정현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0100" y="3492500"/>
            <a:ext cx="10439400" cy="212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12000" b="false" i="false" u="none" strike="noStrike" spc="1400">
                <a:solidFill>
                  <a:srgbClr val="000000"/>
                </a:solidFill>
                <a:latin typeface="Pretendard Bold"/>
              </a:rPr>
              <a:t>THANK YOU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71700" y="1739900"/>
            <a:ext cx="368300" cy="254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616200" y="1625600"/>
            <a:ext cx="38354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TAVE_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심화</a:t>
            </a: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프로젝트</a:t>
            </a:r>
            <a:r>
              <a:rPr lang="en-US" sz="2500" b="false" i="false" u="none" strike="noStrike">
                <a:solidFill>
                  <a:srgbClr val="366DC8"/>
                </a:solidFill>
                <a:latin typeface="Pretendard Bold"/>
              </a:rPr>
              <a:t> 3</a:t>
            </a:r>
            <a:r>
              <a:rPr lang="ko-KR" sz="2500" b="false" i="false" u="none" strike="noStrike">
                <a:solidFill>
                  <a:srgbClr val="366DC8"/>
                </a:solidFill>
                <a:ea typeface="Pretendard Bold"/>
              </a:rPr>
              <a:t>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